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66C462-1935-46BC-B1D9-CEEB4E0F0885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90E43-B470-40BF-82F8-6E3429F63E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622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SkillSwap concept pitch. All features, rank thresholds and business assumptions are proposed, not implemented or validated. Team name, team ID and repository must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SkillSwap concept pitch. All features, rank thresholds and business assumptions are proposed, not implemented or validated. Team name, team ID and repository must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SkillSwap concept pitch. All features, rank thresholds and business assumptions are proposed, not implemented or validated. Team name, team ID and repository must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SkillSwap concept pitch. All features, rank thresholds and business assumptions are proposed, not implemented or validated. Team name, team ID and repository must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SkillSwap concept pitch. All features, rank thresholds and business assumptions are proposed, not implemented or validated. Team name, team ID and repository must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SkillSwap concept pitch. All features, rank thresholds and business assumptions are proposed, not implemented or validated. Team name, team ID and repository must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SkillSwap concept pitch. All features, rank thresholds and business assumptions are proposed, not implemented or validated. Team name, team ID and repository must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SkillSwap concept pitch. All features, rank thresholds and business assumptions are proposed, not implemented or validated. Team name, team ID and repository must be completed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513" y="323819"/>
            <a:ext cx="2729012" cy="843082"/>
          </a:xfrm>
          <a:prstGeom prst="rect">
            <a:avLst/>
          </a:prstGeom>
        </p:spPr>
      </p:pic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371475" y="317536"/>
            <a:ext cx="2720526" cy="85564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34365" y="1188206"/>
            <a:ext cx="2245360" cy="1151134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6168626"/>
              </a:avLst>
            </a:prstTxWarp>
            <a:spAutoFit/>
          </a:bodyPr>
          <a:lstStyle/>
          <a:p>
            <a:pPr algn="ctr"/>
            <a:r>
              <a:rPr lang="en-IN" sz="3600" b="1" dirty="0">
                <a:ln w="38100">
                  <a:noFill/>
                </a:ln>
                <a:solidFill>
                  <a:schemeClr val="bg1"/>
                </a:solidFill>
                <a:effectLst>
                  <a:glow rad="101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101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20" name="Google Shape;202;p45">
            <a:extLst>
              <a:ext uri="{FF2B5EF4-FFF2-40B4-BE49-F238E27FC236}">
                <a16:creationId xmlns:a16="http://schemas.microsoft.com/office/drawing/2014/main" id="{DD4D71D2-3825-2E15-CA0A-237033911D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11084560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F6923A3-B18A-9065-C726-BBC5A9C675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11084560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4880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7FAFB5B-57CB-AEFA-003F-0BB5A3A1B9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20" b="7820"/>
          <a:stretch>
            <a:fillRect/>
          </a:stretch>
        </p:blipFill>
        <p:spPr>
          <a:xfrm>
            <a:off x="0" y="0"/>
            <a:ext cx="12191954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0DF343-60A4-590C-7BC8-91798ABC3FC1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A75276-2B1D-4B7F-F613-DEBAC52D46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72" y="323819"/>
            <a:ext cx="2729012" cy="84308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DF4206D-0572-E2FA-BBE5-45F3A0925D07}"/>
              </a:ext>
            </a:extLst>
          </p:cNvPr>
          <p:cNvSpPr>
            <a:spLocks noGrp="1"/>
          </p:cNvSpPr>
          <p:nvPr userDrawn="1"/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6616167" y="1989603"/>
            <a:ext cx="5135805" cy="1615293"/>
          </a:xfrm>
          <a:prstGeom prst="rect">
            <a:avLst/>
          </a:prstGeom>
        </p:spPr>
      </p:pic>
      <p:sp>
        <p:nvSpPr>
          <p:cNvPr id="7" name="TextBox 42">
            <a:extLst>
              <a:ext uri="{FF2B5EF4-FFF2-40B4-BE49-F238E27FC236}">
                <a16:creationId xmlns:a16="http://schemas.microsoft.com/office/drawing/2014/main" id="{42FD9994-5292-231D-4165-26892309EB7E}"/>
              </a:ext>
            </a:extLst>
          </p:cNvPr>
          <p:cNvSpPr txBox="1"/>
          <p:nvPr userDrawn="1"/>
        </p:nvSpPr>
        <p:spPr>
          <a:xfrm>
            <a:off x="6136640" y="3757726"/>
            <a:ext cx="6176138" cy="4410914"/>
          </a:xfrm>
          <a:prstGeom prst="rect">
            <a:avLst/>
          </a:prstGeom>
          <a:noFill/>
        </p:spPr>
        <p:txBody>
          <a:bodyPr spcFirstLastPara="1" wrap="square" numCol="1" rtlCol="0">
            <a:prstTxWarp prst="textArchUp">
              <a:avLst>
                <a:gd name="adj" fmla="val 5730049"/>
              </a:avLst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8000" b="1" dirty="0">
                <a:ln w="38100">
                  <a:noFill/>
                </a:ln>
                <a:solidFill>
                  <a:schemeClr val="bg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2026</a:t>
            </a:r>
            <a:endParaRPr lang="en-US" sz="3600" b="1" dirty="0">
              <a:ln w="38100">
                <a:noFill/>
              </a:ln>
              <a:solidFill>
                <a:schemeClr val="bg1"/>
              </a:solidFill>
              <a:effectLst>
                <a:glow rad="228600">
                  <a:schemeClr val="accent5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0" name="Google Shape;202;p45">
            <a:extLst>
              <a:ext uri="{FF2B5EF4-FFF2-40B4-BE49-F238E27FC236}">
                <a16:creationId xmlns:a16="http://schemas.microsoft.com/office/drawing/2014/main" id="{BEE938DF-602A-6074-42C8-C7067316A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9762" y="1630349"/>
            <a:ext cx="5587999" cy="936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aseline="0">
                <a:solidFill>
                  <a:schemeClr val="accent4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1" name="Text Placeholder 40">
            <a:extLst>
              <a:ext uri="{FF2B5EF4-FFF2-40B4-BE49-F238E27FC236}">
                <a16:creationId xmlns:a16="http://schemas.microsoft.com/office/drawing/2014/main" id="{8030667F-3367-8E49-0E6C-D1D034904D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9761" y="2797250"/>
            <a:ext cx="5587999" cy="3422575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29140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8B1584E-8195-1F65-B6B5-60C5A2F96AFC}"/>
              </a:ext>
            </a:extLst>
          </p:cNvPr>
          <p:cNvGrpSpPr/>
          <p:nvPr userDrawn="1"/>
        </p:nvGrpSpPr>
        <p:grpSpPr>
          <a:xfrm>
            <a:off x="0" y="6002322"/>
            <a:ext cx="12192000" cy="863628"/>
            <a:chOff x="0" y="5921502"/>
            <a:chExt cx="12192000" cy="936497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4DE944D-0FA2-4F5D-D47C-AEC29E4EC8C8}"/>
                </a:ext>
              </a:extLst>
            </p:cNvPr>
            <p:cNvSpPr/>
            <p:nvPr/>
          </p:nvSpPr>
          <p:spPr>
            <a:xfrm>
              <a:off x="4768850" y="6034196"/>
              <a:ext cx="3327400" cy="703153"/>
            </a:xfrm>
            <a:custGeom>
              <a:avLst/>
              <a:gdLst>
                <a:gd name="csX0" fmla="*/ 3327400 w 3327400"/>
                <a:gd name="csY0" fmla="*/ 17354 h 703153"/>
                <a:gd name="csX1" fmla="*/ 969264 w 3327400"/>
                <a:gd name="csY1" fmla="*/ 18 h 703153"/>
                <a:gd name="csX2" fmla="*/ 602678 w 3327400"/>
                <a:gd name="csY2" fmla="*/ 131019 h 703153"/>
                <a:gd name="csX3" fmla="*/ 0 w 3327400"/>
                <a:gd name="csY3" fmla="*/ 633304 h 703153"/>
                <a:gd name="csX4" fmla="*/ 3244850 w 3327400"/>
                <a:gd name="csY4" fmla="*/ 703154 h 7031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327400" h="703153">
                  <a:moveTo>
                    <a:pt x="3327400" y="17354"/>
                  </a:moveTo>
                  <a:cubicBezTo>
                    <a:pt x="3109849" y="17354"/>
                    <a:pt x="1540510" y="4654"/>
                    <a:pt x="969264" y="18"/>
                  </a:cubicBezTo>
                  <a:cubicBezTo>
                    <a:pt x="835419" y="-1055"/>
                    <a:pt x="705529" y="45357"/>
                    <a:pt x="602678" y="131019"/>
                  </a:cubicBezTo>
                  <a:lnTo>
                    <a:pt x="0" y="633304"/>
                  </a:lnTo>
                  <a:lnTo>
                    <a:pt x="3244850" y="703154"/>
                  </a:lnTo>
                  <a:close/>
                </a:path>
              </a:pathLst>
            </a:custGeom>
            <a:solidFill>
              <a:srgbClr val="253C6D"/>
            </a:solidFill>
            <a:ln w="6350" cap="flat">
              <a:noFill/>
              <a:prstDash val="solid"/>
              <a:miter/>
            </a:ln>
          </p:spPr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B158948-199E-54F6-CC6A-CD062D4B5441}"/>
                </a:ext>
              </a:extLst>
            </p:cNvPr>
            <p:cNvSpPr/>
            <p:nvPr/>
          </p:nvSpPr>
          <p:spPr>
            <a:xfrm>
              <a:off x="0" y="5921502"/>
              <a:ext cx="12192000" cy="936497"/>
            </a:xfrm>
            <a:custGeom>
              <a:avLst/>
              <a:gdLst>
                <a:gd name="csX0" fmla="*/ 12192000 w 12192000"/>
                <a:gd name="csY0" fmla="*/ 2350 h 936497"/>
                <a:gd name="csX1" fmla="*/ 7964170 w 12192000"/>
                <a:gd name="csY1" fmla="*/ 0 h 936497"/>
                <a:gd name="csX2" fmla="*/ 7649019 w 12192000"/>
                <a:gd name="csY2" fmla="*/ 107315 h 936497"/>
                <a:gd name="csX3" fmla="*/ 6943027 w 12192000"/>
                <a:gd name="csY3" fmla="*/ 652272 h 936497"/>
                <a:gd name="csX4" fmla="*/ 6714427 w 12192000"/>
                <a:gd name="csY4" fmla="*/ 730187 h 936497"/>
                <a:gd name="csX5" fmla="*/ 0 w 12192000"/>
                <a:gd name="csY5" fmla="*/ 733298 h 936497"/>
                <a:gd name="csX6" fmla="*/ 0 w 12192000"/>
                <a:gd name="csY6" fmla="*/ 936498 h 936497"/>
                <a:gd name="csX7" fmla="*/ 12192000 w 12192000"/>
                <a:gd name="csY7" fmla="*/ 936498 h 9364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12192000" h="936497">
                  <a:moveTo>
                    <a:pt x="12192000" y="2350"/>
                  </a:moveTo>
                  <a:lnTo>
                    <a:pt x="7964170" y="0"/>
                  </a:lnTo>
                  <a:cubicBezTo>
                    <a:pt x="7850124" y="-76"/>
                    <a:pt x="7739317" y="37668"/>
                    <a:pt x="7649019" y="107315"/>
                  </a:cubicBezTo>
                  <a:lnTo>
                    <a:pt x="6943027" y="652272"/>
                  </a:lnTo>
                  <a:cubicBezTo>
                    <a:pt x="6877558" y="702818"/>
                    <a:pt x="6797168" y="730187"/>
                    <a:pt x="6714427" y="730187"/>
                  </a:cubicBezTo>
                  <a:lnTo>
                    <a:pt x="0" y="733298"/>
                  </a:lnTo>
                  <a:lnTo>
                    <a:pt x="0" y="936498"/>
                  </a:lnTo>
                  <a:lnTo>
                    <a:pt x="12192000" y="936498"/>
                  </a:lnTo>
                  <a:close/>
                </a:path>
              </a:pathLst>
            </a:custGeom>
            <a:solidFill>
              <a:srgbClr val="F2842F"/>
            </a:solidFill>
            <a:ln w="6350" cap="flat">
              <a:noFill/>
              <a:prstDash val="solid"/>
              <a:miter/>
            </a:ln>
          </p:spPr>
        </p:sp>
      </p:grpSp>
      <p:sp>
        <p:nvSpPr>
          <p:cNvPr id="3" name="Google Shape;202;p45">
            <a:extLst>
              <a:ext uri="{FF2B5EF4-FFF2-40B4-BE49-F238E27FC236}">
                <a16:creationId xmlns:a16="http://schemas.microsoft.com/office/drawing/2014/main" id="{6BF16071-0212-0BAB-F060-72458C9196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aseline="0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pic>
        <p:nvPicPr>
          <p:cNvPr id="8" name="Picture 7" descr="Sathyabama Institute of Science and Technology Marks Calculator | CGPA &amp;  SGPA">
            <a:extLst>
              <a:ext uri="{FF2B5EF4-FFF2-40B4-BE49-F238E27FC236}">
                <a16:creationId xmlns:a16="http://schemas.microsoft.com/office/drawing/2014/main" id="{F2C043C2-F269-2061-CA94-F6ACF5D2C0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01" y="148062"/>
            <a:ext cx="1047750" cy="1047750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B420C4F-56EC-8F21-F85A-F539849AD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32099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A6FCFE0C-FD5A-4524-A8B1-CEC4446D43C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40">
            <a:extLst>
              <a:ext uri="{FF2B5EF4-FFF2-40B4-BE49-F238E27FC236}">
                <a16:creationId xmlns:a16="http://schemas.microsoft.com/office/drawing/2014/main" id="{011DAA12-713E-1B53-F990-5B1A0D6AE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/>
          <a:lstStyle>
            <a:lvl1pPr>
              <a:buFontTx/>
              <a:buNone/>
              <a:defRPr sz="2400">
                <a:solidFill>
                  <a:schemeClr val="tx1"/>
                </a:solidFill>
              </a:defRPr>
            </a:lvl1pPr>
            <a:lvl2pPr>
              <a:defRPr sz="2200"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8" name="Graphic 37">
            <a:extLst>
              <a:ext uri="{FF2B5EF4-FFF2-40B4-BE49-F238E27FC236}">
                <a16:creationId xmlns:a16="http://schemas.microsoft.com/office/drawing/2014/main" id="{29AF0423-0B38-9B7C-662A-52BEE3FBDD1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66" t="15259" r="11845" b="67408"/>
          <a:stretch>
            <a:fillRect/>
          </a:stretch>
        </p:blipFill>
        <p:spPr>
          <a:xfrm>
            <a:off x="9979108" y="364408"/>
            <a:ext cx="1955579" cy="61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830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6F7FB7-8A81-2B7E-ED1D-92AF28D59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47671-D508-B7AD-B296-E1CA61705D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22D36-9015-9164-2ED7-AD3DF4607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25E12-DB88-696D-9012-0D8486CF5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F1C9F-DDFD-4251-4985-A2941FAC1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CFE0C-FD5A-4524-A8B1-CEC4446D43C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90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AFDAC-57A7-98AC-D986-6B23EEBCA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06CD56A3-578C-0180-77A5-729AC0806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762" y="1630349"/>
            <a:ext cx="5943600" cy="936496"/>
          </a:xfrm>
        </p:spPr>
        <p:txBody>
          <a:bodyPr wrap="square">
            <a:normAutofit/>
          </a:bodyPr>
          <a:lstStyle/>
          <a:p>
            <a:pPr>
              <a:spcAft>
                <a:spcPts val="1300"/>
              </a:spcAft>
              <a:buNone/>
            </a:pPr>
            <a:r>
              <a:rPr sz="3200" b="1" i="0" dirty="0" err="1">
                <a:solidFill>
                  <a:schemeClr val="bg1"/>
                </a:solidFill>
                <a:latin typeface="Aptos"/>
              </a:rPr>
              <a:t>SkillSwap</a:t>
            </a:r>
            <a:endParaRPr sz="3200" b="1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C8589B8E-4A29-73AF-5A2F-EB72CC734F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8680" y="2566845"/>
            <a:ext cx="5587999" cy="3422575"/>
          </a:xfrm>
        </p:spPr>
        <p:txBody>
          <a:bodyPr wrap="square">
            <a:normAutofit/>
          </a:bodyPr>
          <a:lstStyle/>
          <a:p>
            <a:pPr>
              <a:spcAft>
                <a:spcPts val="1300"/>
              </a:spcAft>
              <a:buNone/>
            </a:pPr>
            <a:r>
              <a:rPr sz="2100" b="0" i="0" dirty="0">
                <a:latin typeface="Aptos"/>
              </a:rPr>
              <a:t>Teach what you know. Learn what you need.</a:t>
            </a:r>
          </a:p>
          <a:p>
            <a:pPr>
              <a:spcAft>
                <a:spcPts val="1300"/>
              </a:spcAft>
              <a:buNone/>
            </a:pPr>
            <a:r>
              <a:rPr sz="2100" b="0" i="0" dirty="0">
                <a:latin typeface="Aptos"/>
              </a:rPr>
              <a:t>P2P knowledge exchange • 20–30-minute micro-mentorship</a:t>
            </a:r>
          </a:p>
          <a:p>
            <a:pPr>
              <a:spcAft>
                <a:spcPts val="1300"/>
              </a:spcAft>
              <a:buNone/>
            </a:pPr>
            <a:r>
              <a:rPr sz="2100" b="0" i="0" dirty="0">
                <a:latin typeface="Aptos"/>
              </a:rPr>
              <a:t>Team name: [</a:t>
            </a:r>
            <a:r>
              <a:rPr lang="en-US" sz="2100" b="0" i="0" dirty="0">
                <a:latin typeface="Aptos"/>
              </a:rPr>
              <a:t>AUTERLITZ</a:t>
            </a:r>
            <a:r>
              <a:rPr sz="2100" b="0" i="0" dirty="0">
                <a:latin typeface="Aptos"/>
              </a:rPr>
              <a:t>]</a:t>
            </a:r>
          </a:p>
          <a:p>
            <a:pPr>
              <a:spcAft>
                <a:spcPts val="1300"/>
              </a:spcAft>
              <a:buNone/>
            </a:pPr>
            <a:r>
              <a:rPr sz="2100" b="0" i="0" dirty="0">
                <a:latin typeface="Aptos"/>
              </a:rPr>
              <a:t>Theme: Peer learning &amp; open innovation</a:t>
            </a:r>
          </a:p>
          <a:p>
            <a:pPr>
              <a:spcAft>
                <a:spcPts val="1300"/>
              </a:spcAft>
              <a:buNone/>
            </a:pPr>
            <a:r>
              <a:rPr sz="2100" b="0" i="0" dirty="0">
                <a:latin typeface="Aptos"/>
              </a:rPr>
              <a:t>PS category: Software  |  Team ID: [</a:t>
            </a:r>
            <a:r>
              <a:rPr lang="en-US" sz="2100" b="0" i="0" dirty="0">
                <a:latin typeface="Aptos"/>
              </a:rPr>
              <a:t>DEX26061</a:t>
            </a:r>
            <a:r>
              <a:rPr sz="2100" b="0" i="0" dirty="0">
                <a:latin typeface="Aptos"/>
              </a:rPr>
              <a:t>]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BA1547A-8CFB-621B-D78D-7A6A2FC2123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1480" y="6356350"/>
            <a:ext cx="457200" cy="365125"/>
          </a:xfrm>
        </p:spPr>
        <p:txBody>
          <a:bodyPr wrap="square"/>
          <a:lstStyle/>
          <a:p>
            <a:pPr>
              <a:spcAft>
                <a:spcPts val="1300"/>
              </a:spcAft>
              <a:buNone/>
            </a:pPr>
            <a:r>
              <a:rPr sz="1200" b="0" i="0">
                <a:solidFill>
                  <a:srgbClr val="172A3A"/>
                </a:solidFill>
                <a:latin typeface="Aptos"/>
              </a:rPr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48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174EA7-003F-89B1-1E7C-F8A57DE9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 wrap="square">
            <a:normAutofit fontScale="90000"/>
          </a:bodyPr>
          <a:lstStyle/>
          <a:p>
            <a:pPr>
              <a:spcAft>
                <a:spcPts val="1300"/>
              </a:spcAft>
              <a:buNone/>
            </a:pPr>
            <a:r>
              <a:rPr sz="3200" b="0" i="0">
                <a:solidFill>
                  <a:srgbClr val="106F78"/>
                </a:solidFill>
                <a:latin typeface="Aptos"/>
              </a:rPr>
              <a:t>IDEA TITLE | SKILLSWAP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49F55E-3122-1F47-4A39-E67B9B6E4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356350"/>
            <a:ext cx="457200" cy="365125"/>
          </a:xfrm>
        </p:spPr>
        <p:txBody>
          <a:bodyPr wrap="square"/>
          <a:lstStyle/>
          <a:p>
            <a:pPr>
              <a:spcAft>
                <a:spcPts val="1300"/>
              </a:spcAft>
              <a:buNone/>
            </a:pPr>
            <a:r>
              <a:rPr sz="1200" b="0" i="0">
                <a:solidFill>
                  <a:srgbClr val="172A3A"/>
                </a:solidFill>
                <a:latin typeface="Aptos"/>
              </a:rPr>
              <a:t>2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8FC1CE-9842-CF70-2FC2-083A847834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 wrap="square">
            <a:normAutofit fontScale="85000" lnSpcReduction="20000"/>
          </a:bodyPr>
          <a:lstStyle/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PROBLEM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Learners need personal help, while useful niche expertise stays isolated.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SOLUTION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Trade teaching time—not money. Teach 30 minutes of Python; earn 30 credits to learn C from any available mentor.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SMART MATCHING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Connect “can teach” with “want to learn”; consider level, language and availability. Reciprocal swaps are optional.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SHARED ROOM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Collaborative code editor, video and whiteboard for focused debugging and explanations.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TRUST + RETENTION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Session reviews, endorsements, milestone badges and contribution-based ranks.</a:t>
            </a:r>
          </a:p>
        </p:txBody>
      </p:sp>
    </p:spTree>
    <p:extLst>
      <p:ext uri="{BB962C8B-B14F-4D97-AF65-F5344CB8AC3E}">
        <p14:creationId xmlns:p14="http://schemas.microsoft.com/office/powerpoint/2010/main" val="3855170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3A9B2-4145-047E-4788-11A7E65A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56E314-826D-F661-98DC-382C68092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 wrap="square">
            <a:normAutofit fontScale="90000"/>
          </a:bodyPr>
          <a:lstStyle/>
          <a:p>
            <a:pPr>
              <a:spcAft>
                <a:spcPts val="1300"/>
              </a:spcAft>
              <a:buNone/>
            </a:pPr>
            <a:r>
              <a:rPr sz="3200" b="0" i="0">
                <a:solidFill>
                  <a:srgbClr val="106F78"/>
                </a:solidFill>
                <a:latin typeface="Aptos"/>
              </a:rPr>
              <a:t>TECHNICAL APPROACH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8579B-D1ED-8571-DE02-5C97F25C2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356350"/>
            <a:ext cx="457200" cy="365125"/>
          </a:xfrm>
        </p:spPr>
        <p:txBody>
          <a:bodyPr wrap="square"/>
          <a:lstStyle/>
          <a:p>
            <a:pPr>
              <a:spcAft>
                <a:spcPts val="1300"/>
              </a:spcAft>
              <a:buNone/>
            </a:pPr>
            <a:r>
              <a:rPr sz="1200" b="0" i="0">
                <a:solidFill>
                  <a:srgbClr val="172A3A"/>
                </a:solidFill>
                <a:latin typeface="Aptos"/>
              </a:rPr>
              <a:t>3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E683CC-7AD2-3D83-D0E5-34D9E4E33C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spcAft>
                <a:spcPts val="1300"/>
              </a:spcAft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PROPOSED STACK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 marL="0" indent="0">
              <a:spcAft>
                <a:spcPts val="1300"/>
              </a:spcAft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React frontend; Node.js API + WebSocket signaling; PostgreSQL for profiles, sessions, reviews and credit ledger.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COLLABORATION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Monaco editor + </a:t>
            </a:r>
            <a:r>
              <a:rPr sz="2000" b="0" i="0" dirty="0" err="1">
                <a:solidFill>
                  <a:srgbClr val="172A3A"/>
                </a:solidFill>
                <a:latin typeface="Aptos"/>
              </a:rPr>
              <a:t>Yjs</a:t>
            </a:r>
            <a:r>
              <a:rPr sz="2000" b="0" i="0" dirty="0">
                <a:solidFill>
                  <a:srgbClr val="172A3A"/>
                </a:solidFill>
                <a:latin typeface="Aptos"/>
              </a:rPr>
              <a:t> synchronization; WebRTC video with STUN/TURN; synchronized whiteboard. [1–2]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MATCHING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Filter by skill, level, language and schedule; rank candidates by fit, reliability and wait time. Offer new mentors visibility.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WORKFLOW </a:t>
            </a:r>
            <a:r>
              <a:rPr sz="2000" b="0" i="0" dirty="0">
                <a:solidFill>
                  <a:srgbClr val="172A3A"/>
                </a:solidFill>
                <a:latin typeface="Aptos"/>
              </a:rPr>
              <a:t> </a:t>
            </a:r>
            <a:endParaRPr lang="en-US" sz="2000" b="0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Profile → Match → Reserve credits → Join room → Confirm duration → Transfer credits → Review + XP.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LIVE DEMO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Match Python/C profiles; edit in two browsers; complete a session; show wallet and rank progress. MVP excludes code execution.</a:t>
            </a:r>
          </a:p>
        </p:txBody>
      </p:sp>
    </p:spTree>
    <p:extLst>
      <p:ext uri="{BB962C8B-B14F-4D97-AF65-F5344CB8AC3E}">
        <p14:creationId xmlns:p14="http://schemas.microsoft.com/office/powerpoint/2010/main" val="203222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65A3FB-D8C6-A614-A208-A0FE6209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 wrap="square">
            <a:normAutofit fontScale="90000"/>
          </a:bodyPr>
          <a:lstStyle/>
          <a:p>
            <a:pPr>
              <a:spcAft>
                <a:spcPts val="1300"/>
              </a:spcAft>
              <a:buNone/>
            </a:pPr>
            <a:r>
              <a:rPr sz="3000" b="0" i="0">
                <a:solidFill>
                  <a:srgbClr val="106F78"/>
                </a:solidFill>
                <a:latin typeface="Aptos"/>
              </a:rPr>
              <a:t>RANK SYSTEM | EARN TRUST, NOT STATUS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F34F-0E06-32B0-3C1C-5F1056DA4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356350"/>
            <a:ext cx="457200" cy="365125"/>
          </a:xfrm>
        </p:spPr>
        <p:txBody>
          <a:bodyPr wrap="square"/>
          <a:lstStyle/>
          <a:p>
            <a:pPr>
              <a:spcAft>
                <a:spcPts val="1300"/>
              </a:spcAft>
              <a:buNone/>
            </a:pPr>
            <a:r>
              <a:rPr sz="1200" b="0" i="0">
                <a:solidFill>
                  <a:srgbClr val="172A3A"/>
                </a:solidFill>
                <a:latin typeface="Aptos"/>
              </a:rPr>
              <a:t>4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1EADFB-1101-5DB8-BB14-B9D50D5223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spcAft>
                <a:spcPts val="1300"/>
              </a:spcAft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PROPOSED TIERS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 marL="0" indent="0">
              <a:spcAft>
                <a:spcPts val="1300"/>
              </a:spcAft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Explorer: 0 XP → Contributor: 100 → Mentor: 300 → Expert: 700 → Master: 1,500 XP.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EARN XP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+20 per verified teaching session; +5 for an agreed goal met. One award per session; no XP for booking or spending credits.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QUALITY GATES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Mentor+ requires ≥5 distinct learners and ≥4.2/5 over ≥5 reviews; Expert ≥15 learners; Master ≥30. Labels reflect contribution, not certification.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FAIR PLAY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Weekly XP cap; repeated-pair limits; no self-reviews; fraud reversal and appeals. Leaderboards are opt-in.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TWO SEPARATE BALANCES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Credits are spendable teaching minutes. XP is non-spendable reputation. Higher ranks never charge more credits.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8DB02-F265-94FF-6DDE-A3106183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65A3FB-D8C6-A614-A208-A0FE62090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 wrap="square">
            <a:normAutofit fontScale="90000"/>
          </a:bodyPr>
          <a:lstStyle/>
          <a:p>
            <a:pPr>
              <a:spcAft>
                <a:spcPts val="1300"/>
              </a:spcAft>
              <a:buNone/>
            </a:pPr>
            <a:r>
              <a:rPr sz="3200" b="0" i="0">
                <a:solidFill>
                  <a:srgbClr val="106F78"/>
                </a:solidFill>
                <a:latin typeface="Aptos"/>
              </a:rPr>
              <a:t>FEASIBILITY AND VIABILITY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0CF34F-0E06-32B0-3C1C-5F1056DA4D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356350"/>
            <a:ext cx="457200" cy="365125"/>
          </a:xfrm>
        </p:spPr>
        <p:txBody>
          <a:bodyPr wrap="square"/>
          <a:lstStyle/>
          <a:p>
            <a:pPr>
              <a:spcAft>
                <a:spcPts val="1300"/>
              </a:spcAft>
              <a:buNone/>
            </a:pPr>
            <a:r>
              <a:rPr sz="1200" b="0" i="0">
                <a:solidFill>
                  <a:srgbClr val="172A3A"/>
                </a:solidFill>
                <a:latin typeface="Aptos"/>
              </a:rPr>
              <a:t>5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C1EADFB-1101-5DB8-BB14-B9D50D5223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1480" y="1357778"/>
            <a:ext cx="11449048" cy="4620263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spcAft>
                <a:spcPts val="1300"/>
              </a:spcAft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MVP SCOPE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 marL="0" indent="0">
              <a:spcAft>
                <a:spcPts val="1300"/>
              </a:spcAft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Start with one campus, Python and C, fixed 20/30-minute slots and two-browser collaboration.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COLD START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Recruit mentor ambassadors; grant 30 starter credits once per verified account; use a waitlist for sparse skills.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QUALITY + SAFETY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Structured goals, mutual completion, reports and blocking; moderated disputes before credit release.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RELIABILITY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Reconnect-safe room state, TURN fallback and text-only mode; no automatic recording.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ECONOMY + ABUSE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Reserve credits before booking; settle in one database transaction; cap repeated-pair XP and audit suspicious sessions.</a:t>
            </a:r>
          </a:p>
        </p:txBody>
      </p:sp>
    </p:spTree>
    <p:extLst>
      <p:ext uri="{BB962C8B-B14F-4D97-AF65-F5344CB8AC3E}">
        <p14:creationId xmlns:p14="http://schemas.microsoft.com/office/powerpoint/2010/main" val="3692489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446AE-5B58-1B80-0EAF-10AC00311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B95AAEE-0716-FFBD-AA8F-1709F2589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 wrap="square">
            <a:normAutofit fontScale="90000"/>
          </a:bodyPr>
          <a:lstStyle/>
          <a:p>
            <a:pPr>
              <a:spcAft>
                <a:spcPts val="1300"/>
              </a:spcAft>
              <a:buNone/>
            </a:pPr>
            <a:r>
              <a:rPr sz="3200" b="0" i="0">
                <a:solidFill>
                  <a:srgbClr val="106F78"/>
                </a:solidFill>
                <a:latin typeface="Aptos"/>
              </a:rPr>
              <a:t>BUSINESS CANVAS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6ED3C0-45B9-4F61-CC2E-E7819EB75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356350"/>
            <a:ext cx="457200" cy="365125"/>
          </a:xfrm>
        </p:spPr>
        <p:txBody>
          <a:bodyPr wrap="square"/>
          <a:lstStyle/>
          <a:p>
            <a:pPr>
              <a:spcAft>
                <a:spcPts val="1300"/>
              </a:spcAft>
              <a:buNone/>
            </a:pPr>
            <a:r>
              <a:rPr sz="1200" b="0" i="0">
                <a:solidFill>
                  <a:srgbClr val="172A3A"/>
                </a:solidFill>
                <a:latin typeface="Aptos"/>
              </a:rPr>
              <a:t>6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BE356E-B92D-BC18-5616-7985E08D28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6" y="1333497"/>
            <a:ext cx="11449048" cy="4620263"/>
          </a:xfrm>
        </p:spPr>
        <p:txBody>
          <a:bodyPr wrap="square">
            <a:normAutofit fontScale="77500" lnSpcReduction="20000"/>
          </a:bodyPr>
          <a:lstStyle/>
          <a:p>
            <a:pPr marL="0" indent="0">
              <a:spcAft>
                <a:spcPts val="1300"/>
              </a:spcAft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MISSION + USERS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 marL="0" indent="0">
              <a:spcAft>
                <a:spcPts val="1300"/>
              </a:spcAft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Make personalized learning accessible; begin with students, coding clubs and self-taught developers.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VALUE + POSITIONING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A proposed alternative to one-way courses and paid tutoring: reciprocal help, short sessions and a shared workspace.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CHANNELS + PARTNERS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Campus ambassadors, developer clubs, hackathons and student communities.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SUSTAINABILITY HYPOTHESIS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Keep peer exchange free; test optional institutional dashboards and sponsored learning events. No sale of ranks.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COST + VALIDATION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Budget for hosting, database, TURN bandwidth and moderation. Measure cost/session and interview clubs before pricing.</a:t>
            </a:r>
          </a:p>
        </p:txBody>
      </p:sp>
    </p:spTree>
    <p:extLst>
      <p:ext uri="{BB962C8B-B14F-4D97-AF65-F5344CB8AC3E}">
        <p14:creationId xmlns:p14="http://schemas.microsoft.com/office/powerpoint/2010/main" val="2408365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B07B8-F5D6-3D86-94BE-3F5ED1B8D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F67624-53B3-3D31-2B35-373FAA66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04813"/>
            <a:ext cx="10474104" cy="574656"/>
          </a:xfrm>
        </p:spPr>
        <p:txBody>
          <a:bodyPr wrap="square">
            <a:normAutofit fontScale="90000"/>
          </a:bodyPr>
          <a:lstStyle/>
          <a:p>
            <a:pPr>
              <a:spcAft>
                <a:spcPts val="1300"/>
              </a:spcAft>
              <a:buNone/>
            </a:pPr>
            <a:r>
              <a:rPr sz="3200" b="0" i="0">
                <a:solidFill>
                  <a:srgbClr val="106F78"/>
                </a:solidFill>
                <a:latin typeface="Aptos"/>
              </a:rPr>
              <a:t>IMPACT AND BENEFITS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2F363D-C4B0-D7BE-2CB3-5316C2D4F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356350"/>
            <a:ext cx="457200" cy="365125"/>
          </a:xfrm>
        </p:spPr>
        <p:txBody>
          <a:bodyPr wrap="square"/>
          <a:lstStyle/>
          <a:p>
            <a:pPr>
              <a:spcAft>
                <a:spcPts val="1300"/>
              </a:spcAft>
              <a:buNone/>
            </a:pPr>
            <a:r>
              <a:rPr sz="1200" b="0" i="0">
                <a:solidFill>
                  <a:srgbClr val="172A3A"/>
                </a:solidFill>
                <a:latin typeface="Aptos"/>
              </a:rPr>
              <a:t>7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6C0CC6-69DF-FFA4-21C0-4344321D5A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 wrap="square">
            <a:normAutofit fontScale="85000" lnSpcReduction="20000"/>
          </a:bodyPr>
          <a:lstStyle/>
          <a:p>
            <a:pPr marL="0" indent="0">
              <a:spcAft>
                <a:spcPts val="1300"/>
              </a:spcAft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ACCESS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 marL="0" indent="0">
              <a:spcAft>
                <a:spcPts val="1300"/>
              </a:spcAft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Aim to reduce the cash barrier to personal guidance through time-based exchange.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COMMUNITY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Turn learners into contributors; make niche skills discoverable across a campus.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LEARNING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Target specific blockers in 20–30 minutes; capture one agreed outcome after each session.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PILOT SCORECARD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 •  Track match-to-session conversion, wait time, completion, repeat use, learning outcomes and dispute rate.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HACKATHON STORY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Profile → Match → Live code → Credit transfer → Rank-up. Proposed benefits must be validated in a pilot.</a:t>
            </a:r>
          </a:p>
        </p:txBody>
      </p:sp>
    </p:spTree>
    <p:extLst>
      <p:ext uri="{BB962C8B-B14F-4D97-AF65-F5344CB8AC3E}">
        <p14:creationId xmlns:p14="http://schemas.microsoft.com/office/powerpoint/2010/main" val="3948578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DFAE-A482-800C-BDE7-191E7C5EB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A2AA865-8A43-4424-BF3F-C2BAD148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279" y="404813"/>
            <a:ext cx="8627829" cy="574656"/>
          </a:xfrm>
        </p:spPr>
        <p:txBody>
          <a:bodyPr wrap="square">
            <a:normAutofit fontScale="90000"/>
          </a:bodyPr>
          <a:lstStyle/>
          <a:p>
            <a:pPr>
              <a:spcAft>
                <a:spcPts val="1300"/>
              </a:spcAft>
              <a:buNone/>
            </a:pPr>
            <a:r>
              <a:rPr sz="3200" b="0" i="0">
                <a:solidFill>
                  <a:srgbClr val="106F78"/>
                </a:solidFill>
                <a:latin typeface="Aptos"/>
              </a:rPr>
              <a:t>RESEARCH AND REFERENCES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69C97E-BADD-963B-CFF7-507C4D4F7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480" y="6356350"/>
            <a:ext cx="457200" cy="365125"/>
          </a:xfrm>
        </p:spPr>
        <p:txBody>
          <a:bodyPr wrap="square"/>
          <a:lstStyle/>
          <a:p>
            <a:pPr>
              <a:spcAft>
                <a:spcPts val="1300"/>
              </a:spcAft>
              <a:buNone/>
            </a:pPr>
            <a:r>
              <a:rPr sz="1200" b="0" i="0">
                <a:solidFill>
                  <a:srgbClr val="172A3A"/>
                </a:solidFill>
                <a:latin typeface="Aptos"/>
              </a:rPr>
              <a:t>8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7B23928-3D63-423C-F329-D41831692BA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333497"/>
            <a:ext cx="11449048" cy="4620263"/>
          </a:xfrm>
        </p:spPr>
        <p:txBody>
          <a:bodyPr wrap="square">
            <a:normAutofit fontScale="92500" lnSpcReduction="20000"/>
          </a:bodyPr>
          <a:lstStyle/>
          <a:p>
            <a:pPr marL="0" indent="0">
              <a:spcAft>
                <a:spcPts val="1300"/>
              </a:spcAft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[1] </a:t>
            </a:r>
            <a:r>
              <a:rPr sz="2000" b="1" i="0" dirty="0" err="1">
                <a:solidFill>
                  <a:srgbClr val="172A3A"/>
                </a:solidFill>
                <a:latin typeface="Aptos"/>
              </a:rPr>
              <a:t>Yjs</a:t>
            </a:r>
            <a:r>
              <a:rPr sz="2000" b="1" i="0" dirty="0">
                <a:solidFill>
                  <a:srgbClr val="172A3A"/>
                </a:solidFill>
                <a:latin typeface="Aptos"/>
              </a:rPr>
              <a:t> documentation</a:t>
            </a:r>
            <a:r>
              <a:rPr sz="2000" b="0" i="0" dirty="0">
                <a:solidFill>
                  <a:srgbClr val="172A3A"/>
                </a:solidFill>
                <a:latin typeface="Aptos"/>
              </a:rPr>
              <a:t>— shared editing and editor bindings.</a:t>
            </a:r>
            <a:br>
              <a:rPr dirty="0"/>
            </a:br>
            <a:r>
              <a:rPr sz="2000" b="0" i="0" dirty="0">
                <a:solidFill>
                  <a:srgbClr val="172A3A"/>
                </a:solidFill>
                <a:latin typeface="Aptos"/>
              </a:rPr>
              <a:t>https://docs.yjs.dev/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[2] WebRTC documentation </a:t>
            </a:r>
            <a:r>
              <a:rPr sz="2000" b="0" i="0" dirty="0">
                <a:solidFill>
                  <a:srgbClr val="172A3A"/>
                </a:solidFill>
                <a:latin typeface="Aptos"/>
              </a:rPr>
              <a:t>— peer connections and connectivity setup.</a:t>
            </a:r>
            <a:br>
              <a:rPr dirty="0"/>
            </a:br>
            <a:r>
              <a:rPr sz="2000" b="0" i="0" dirty="0">
                <a:solidFill>
                  <a:srgbClr val="172A3A"/>
                </a:solidFill>
                <a:latin typeface="Aptos"/>
              </a:rPr>
              <a:t>https://webrtc.org/getting-started/peer-connections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VALIDATION PLAN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Interview student learners and mentors; test match quality, completion and repeat use in a small campus pilot.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PROJECT STATUS 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  <a:buNone/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•  Proposed concept and architecture; no user traction, revenue or measured outcomes claimed.</a:t>
            </a:r>
          </a:p>
          <a:p>
            <a:pPr>
              <a:spcAft>
                <a:spcPts val="1300"/>
              </a:spcAft>
              <a:buNone/>
            </a:pPr>
            <a:r>
              <a:rPr sz="2000" b="1" i="0" dirty="0">
                <a:solidFill>
                  <a:srgbClr val="172A3A"/>
                </a:solidFill>
                <a:latin typeface="Aptos"/>
              </a:rPr>
              <a:t>GITHUB REPOSITORY </a:t>
            </a:r>
            <a:endParaRPr lang="en-US" sz="2000" b="1" i="0" dirty="0">
              <a:solidFill>
                <a:srgbClr val="172A3A"/>
              </a:solidFill>
              <a:latin typeface="Aptos"/>
            </a:endParaRPr>
          </a:p>
          <a:p>
            <a:pPr>
              <a:spcAft>
                <a:spcPts val="1300"/>
              </a:spcAft>
            </a:pPr>
            <a:r>
              <a:rPr sz="2000" b="0" i="0" dirty="0">
                <a:solidFill>
                  <a:srgbClr val="172A3A"/>
                </a:solidFill>
                <a:latin typeface="Aptos"/>
              </a:rPr>
              <a:t> •  [</a:t>
            </a:r>
            <a:r>
              <a:rPr lang="en-IN" sz="2000">
                <a:solidFill>
                  <a:srgbClr val="172A3A"/>
                </a:solidFill>
                <a:latin typeface="Aptos"/>
              </a:rPr>
              <a:t>https://github.com/AceAnsh/skillswap</a:t>
            </a:r>
            <a:r>
              <a:rPr sz="2000" b="0" i="0">
                <a:solidFill>
                  <a:srgbClr val="172A3A"/>
                </a:solidFill>
                <a:latin typeface="Aptos"/>
              </a:rPr>
              <a:t>]</a:t>
            </a:r>
            <a:endParaRPr sz="2000" b="0" i="0" dirty="0">
              <a:solidFill>
                <a:srgbClr val="172A3A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60014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xatho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842F"/>
      </a:accent1>
      <a:accent2>
        <a:srgbClr val="253C6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1109</Words>
  <Application>Microsoft Office PowerPoint</Application>
  <PresentationFormat>Widescreen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Arial Black</vt:lpstr>
      <vt:lpstr>Calibri</vt:lpstr>
      <vt:lpstr>Office Theme</vt:lpstr>
      <vt:lpstr>SkillSwap</vt:lpstr>
      <vt:lpstr>IDEA TITLE | SKILLSWAP</vt:lpstr>
      <vt:lpstr>TECHNICAL APPROACH</vt:lpstr>
      <vt:lpstr>RANK SYSTEM | EARN TRUST, NOT STATUS</vt:lpstr>
      <vt:lpstr>FEASIBILITY AND VIABILITY</vt:lpstr>
      <vt:lpstr>BUSINESS CANVAS</vt:lpstr>
      <vt:lpstr>IMPACT AND BENEFITS</vt:lpstr>
      <vt:lpstr>RESEARCH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SkillSwap — Peer Knowledge &amp; Micro-Mentorship Exchange</dc:title>
  <cp:lastModifiedBy>ansh tiwari</cp:lastModifiedBy>
  <cp:revision>2</cp:revision>
  <dcterms:modified xsi:type="dcterms:W3CDTF">2026-10-17T15:10:50Z</dcterms:modified>
</cp:coreProperties>
</file>